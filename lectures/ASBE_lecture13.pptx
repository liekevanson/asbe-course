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8"/>
  </p:notesMasterIdLst>
  <p:sldIdLst>
    <p:sldId id="263" r:id="rId2"/>
    <p:sldId id="266" r:id="rId3"/>
    <p:sldId id="305" r:id="rId4"/>
    <p:sldId id="269" r:id="rId5"/>
    <p:sldId id="1884" r:id="rId6"/>
    <p:sldId id="311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A30"/>
    <a:srgbClr val="D45338"/>
    <a:srgbClr val="EF9347"/>
    <a:srgbClr val="E9C24A"/>
    <a:srgbClr val="F6A929"/>
    <a:srgbClr val="F50100"/>
    <a:srgbClr val="0099C0"/>
    <a:srgbClr val="029FD1"/>
    <a:srgbClr val="14A6A8"/>
    <a:srgbClr val="C73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70411"/>
  </p:normalViewPr>
  <p:slideViewPr>
    <p:cSldViewPr snapToGrid="0">
      <p:cViewPr varScale="1">
        <p:scale>
          <a:sx n="87" d="100"/>
          <a:sy n="87" d="100"/>
        </p:scale>
        <p:origin x="1744" y="200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B936-6388-CC44-9359-B76BF8CC9D87}" type="datetimeFigureOut">
              <a:rPr lang="en-NL" smtClean="0"/>
              <a:t>05/12/2025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45244-5691-1D46-ABFD-C179061DF8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8509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e74579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de74579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CC931-8617-4629-3FD4-F545C5CACC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B4A64BF-0A2F-3146-9BD4-082ED17DA75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2423F-307B-492B-52AC-F5CE9A5EE6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ACCE7-C578-4C04-102A-C9CC40445B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435920"/>
          </a:xfrm>
        </p:spPr>
        <p:txBody>
          <a:bodyPr/>
          <a:lstStyle/>
          <a:p>
            <a:r>
              <a:rPr lang="en-US" dirty="0"/>
              <a:t>We ended the last lecture with the iron core collapsing to a proto neutron star </a:t>
            </a:r>
          </a:p>
          <a:p>
            <a:endParaRPr lang="en-US" dirty="0"/>
          </a:p>
          <a:p>
            <a:r>
              <a:rPr lang="en-US" dirty="0"/>
              <a:t>How much energy is released during this collapse? </a:t>
            </a:r>
          </a:p>
          <a:p>
            <a:endParaRPr lang="en-US" dirty="0"/>
          </a:p>
          <a:p>
            <a:r>
              <a:rPr lang="en-US" dirty="0"/>
              <a:t>We  know the envelope binging energy &lt;&lt; GM^2/</a:t>
            </a:r>
            <a:r>
              <a:rPr lang="en-US" dirty="0" err="1"/>
              <a:t>Rcore,i</a:t>
            </a:r>
            <a:r>
              <a:rPr lang="en-US" dirty="0"/>
              <a:t> because </a:t>
            </a:r>
            <a:r>
              <a:rPr lang="en-US" dirty="0" err="1"/>
              <a:t>Rcore,I</a:t>
            </a:r>
            <a:r>
              <a:rPr lang="en-US" dirty="0"/>
              <a:t> &lt; r at every dm, and </a:t>
            </a:r>
            <a:r>
              <a:rPr lang="en-US" dirty="0" err="1"/>
              <a:t>Menv</a:t>
            </a:r>
            <a:r>
              <a:rPr lang="en-US" dirty="0"/>
              <a:t> &lt; M </a:t>
            </a:r>
          </a:p>
          <a:p>
            <a:r>
              <a:rPr lang="en-US" dirty="0"/>
              <a:t>But to properly do this integral, we use the density profile of a star from detailed calculations.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Core </a:t>
            </a:r>
            <a:r>
              <a:rPr lang="en-GB" dirty="0" err="1"/>
              <a:t>bounde</a:t>
            </a:r>
            <a:r>
              <a:rPr lang="en-GB" dirty="0"/>
              <a:t> meets infalling material: creates supersonic shock wave that moves outwards</a:t>
            </a:r>
          </a:p>
          <a:p>
            <a:endParaRPr lang="en-GB" dirty="0"/>
          </a:p>
          <a:p>
            <a:r>
              <a:rPr lang="en-GB" dirty="0"/>
              <a:t>This shock wave</a:t>
            </a:r>
          </a:p>
          <a:p>
            <a:pPr marL="171450" indent="-171450">
              <a:buFontTx/>
              <a:buChar char="-"/>
            </a:pPr>
            <a:r>
              <a:rPr lang="en-GB" dirty="0"/>
              <a:t>Disintegrates the infalling nuclei (taking up enormous amounts of energy ~10% of the available Gravitational energy)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shock wave travels through the infalling matter which still mostly consists of </a:t>
            </a:r>
            <a:r>
              <a:rPr lang="en-GB" dirty="0" err="1"/>
              <a:t>irongroup</a:t>
            </a:r>
            <a:r>
              <a:rPr lang="en-GB" dirty="0"/>
              <a:t> nuclei, it heats up the nuclei and disintegrates them effectively into protons and neutrons.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5244-5691-1D46-ABFD-C179061DF80A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5317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de74579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de74579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AKA the superficial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OK so we have now reached a successful explosion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does this look like on the outside?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What set the SN </a:t>
            </a:r>
            <a:r>
              <a:rPr lang="en-US" dirty="0" err="1"/>
              <a:t>apperance</a:t>
            </a:r>
            <a:r>
              <a:rPr lang="en-US" dirty="0"/>
              <a:t>? 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br>
              <a:rPr lang="en-US" dirty="0"/>
            </a:br>
            <a:r>
              <a:rPr lang="en-US" dirty="0"/>
              <a:t>It is good to pause and realize that while the final core structure determines </a:t>
            </a:r>
            <a:r>
              <a:rPr lang="en-US" dirty="0" err="1"/>
              <a:t>wether</a:t>
            </a:r>
            <a:r>
              <a:rPr lang="en-US" dirty="0"/>
              <a:t> the star explodes at all, and what it leaves behind, 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endParaRPr lang="en-US" dirty="0"/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it is the envelope and surrounding (CSM) material that sets the </a:t>
            </a:r>
            <a:r>
              <a:rPr lang="en-US" dirty="0" err="1"/>
              <a:t>superficcial</a:t>
            </a:r>
            <a:r>
              <a:rPr lang="en-US" dirty="0"/>
              <a:t> appearance of the SN!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endParaRPr lang="en-US" dirty="0"/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supernova appearance depends on:</a:t>
            </a:r>
          </a:p>
          <a:p>
            <a:pPr lvl="0">
              <a:spcBef>
                <a:spcPts val="283"/>
              </a:spcBef>
              <a:spcAft>
                <a:spcPts val="714"/>
              </a:spcAft>
            </a:pPr>
            <a:r>
              <a:rPr lang="en-US" dirty="0"/>
              <a:t>- structure and composition of the pre-SN star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83"/>
              </a:spcBef>
              <a:spcAft>
                <a:spcPts val="714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presence of </a:t>
            </a:r>
            <a:r>
              <a:rPr lang="en-US" dirty="0">
                <a:solidFill>
                  <a:srgbClr val="B80047"/>
                </a:solidFill>
              </a:rPr>
              <a:t>circumstellar material</a:t>
            </a:r>
            <a:r>
              <a:rPr lang="en-US" dirty="0"/>
              <a:t> (stellar wind ejecta)</a:t>
            </a:r>
          </a:p>
          <a:p>
            <a:pPr lvl="0">
              <a:spcBef>
                <a:spcPts val="283"/>
              </a:spcBef>
              <a:spcAft>
                <a:spcPts val="714"/>
              </a:spcAft>
            </a:pPr>
            <a:endParaRPr lang="en-US" dirty="0"/>
          </a:p>
          <a:p>
            <a:pPr marL="171450" lvl="0" indent="-171450">
              <a:spcBef>
                <a:spcPts val="283"/>
              </a:spcBef>
              <a:spcAft>
                <a:spcPts val="714"/>
              </a:spcAft>
              <a:buFontTx/>
              <a:buChar char="-"/>
            </a:pPr>
            <a:r>
              <a:rPr lang="en-US" dirty="0"/>
              <a:t>the </a:t>
            </a:r>
            <a:r>
              <a:rPr lang="en-US" dirty="0">
                <a:solidFill>
                  <a:srgbClr val="B80047"/>
                </a:solidFill>
              </a:rPr>
              <a:t>mass cut</a:t>
            </a:r>
            <a:r>
              <a:rPr lang="en-US" dirty="0"/>
              <a:t> between collapsing core and ejected envelope</a:t>
            </a:r>
          </a:p>
          <a:p>
            <a:pPr marL="171450" lvl="0" indent="-171450">
              <a:spcBef>
                <a:spcPts val="283"/>
              </a:spcBef>
              <a:spcAft>
                <a:spcPts val="714"/>
              </a:spcAft>
              <a:buFontTx/>
              <a:buChar char="-"/>
            </a:pPr>
            <a:r>
              <a:rPr lang="en-US" dirty="0"/>
              <a:t>energy input by decay of radioactive isotopes ejected in the explosion.</a:t>
            </a:r>
            <a:br>
              <a:rPr lang="en-US" dirty="0"/>
            </a:br>
            <a:endParaRPr lang="en-US" dirty="0"/>
          </a:p>
          <a:p>
            <a:pPr lvl="0">
              <a:spcBef>
                <a:spcPts val="289"/>
              </a:spcBef>
            </a:pPr>
            <a:r>
              <a:rPr lang="en-US" dirty="0">
                <a:solidFill>
                  <a:srgbClr val="B80047"/>
                </a:solidFill>
              </a:rPr>
              <a:t>- kinetic energy</a:t>
            </a:r>
            <a:r>
              <a:rPr lang="en-US" dirty="0"/>
              <a:t> imparted to envelope, </a:t>
            </a:r>
            <a:r>
              <a:rPr lang="en-US" i="1" dirty="0"/>
              <a:t>E</a:t>
            </a:r>
            <a:r>
              <a:rPr lang="en-US" baseline="-25000" dirty="0"/>
              <a:t>kin</a:t>
            </a:r>
            <a:r>
              <a:rPr lang="en-US" dirty="0"/>
              <a:t> ~ 10</a:t>
            </a:r>
            <a:r>
              <a:rPr lang="en-US" baseline="30000" dirty="0"/>
              <a:t>51</a:t>
            </a:r>
            <a:r>
              <a:rPr lang="en-US" dirty="0"/>
              <a:t> erg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5244-5691-1D46-ABFD-C179061DF80A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52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dirty="0"/>
              <a:t>OK so we have seen stars that sucessfully explode (revived shock)</a:t>
            </a:r>
          </a:p>
          <a:p>
            <a:endParaRPr lang="en-NL" dirty="0"/>
          </a:p>
          <a:p>
            <a:r>
              <a:rPr lang="en-NL" dirty="0"/>
              <a:t>We have also learned that it is quite difficult to revive the shock, and in some cases the shock might not revive --&gt; unsucessful explosion. </a:t>
            </a:r>
          </a:p>
          <a:p>
            <a:endParaRPr lang="en-NL" dirty="0"/>
          </a:p>
          <a:p>
            <a:endParaRPr lang="en-NL" dirty="0"/>
          </a:p>
          <a:p>
            <a:r>
              <a:rPr lang="en-NL" dirty="0"/>
              <a:t>What happens if the shock doesn't revive?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5244-5691-1D46-ABFD-C179061DF80A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922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userDrawn="1">
  <p:cSld name="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;p2">
            <a:extLst>
              <a:ext uri="{FF2B5EF4-FFF2-40B4-BE49-F238E27FC236}">
                <a16:creationId xmlns:a16="http://schemas.microsoft.com/office/drawing/2014/main" id="{EA7C43AA-6145-0FAD-3E9F-94F6C59C7F59}"/>
              </a:ext>
            </a:extLst>
          </p:cNvPr>
          <p:cNvSpPr/>
          <p:nvPr userDrawn="1"/>
        </p:nvSpPr>
        <p:spPr>
          <a:xfrm>
            <a:off x="8695919" y="2851435"/>
            <a:ext cx="3512818" cy="4006565"/>
          </a:xfrm>
          <a:custGeom>
            <a:avLst/>
            <a:gdLst/>
            <a:ahLst/>
            <a:cxnLst/>
            <a:rect l="l" t="t" r="r" b="b"/>
            <a:pathLst>
              <a:path w="20547" h="23435" extrusionOk="0">
                <a:moveTo>
                  <a:pt x="20546" y="0"/>
                </a:moveTo>
                <a:cubicBezTo>
                  <a:pt x="17408" y="1564"/>
                  <a:pt x="13933" y="2717"/>
                  <a:pt x="11563" y="5286"/>
                </a:cubicBezTo>
                <a:cubicBezTo>
                  <a:pt x="8579" y="8525"/>
                  <a:pt x="8020" y="13274"/>
                  <a:pt x="5938" y="17154"/>
                </a:cubicBezTo>
                <a:cubicBezTo>
                  <a:pt x="4560" y="19723"/>
                  <a:pt x="2484" y="21914"/>
                  <a:pt x="0" y="23435"/>
                </a:cubicBezTo>
                <a:lnTo>
                  <a:pt x="20546" y="23435"/>
                </a:lnTo>
                <a:lnTo>
                  <a:pt x="2054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650790" y="1350197"/>
            <a:ext cx="4018646" cy="1858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accent6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 dirty="0"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4" name="Google Shape;509;p31">
            <a:extLst>
              <a:ext uri="{FF2B5EF4-FFF2-40B4-BE49-F238E27FC236}">
                <a16:creationId xmlns:a16="http://schemas.microsoft.com/office/drawing/2014/main" id="{9F4EA634-3F72-20D4-D293-B0274DD9EFB2}"/>
              </a:ext>
            </a:extLst>
          </p:cNvPr>
          <p:cNvCxnSpPr/>
          <p:nvPr userDrawn="1"/>
        </p:nvCxnSpPr>
        <p:spPr>
          <a:xfrm>
            <a:off x="650790" y="4745474"/>
            <a:ext cx="1876500" cy="0"/>
          </a:xfrm>
          <a:prstGeom prst="straightConnector1">
            <a:avLst/>
          </a:prstGeom>
          <a:noFill/>
          <a:ln w="28575" cap="rnd" cmpd="sng">
            <a:solidFill>
              <a:schemeClr val="bg2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" name="Google Shape;510;p31">
            <a:extLst>
              <a:ext uri="{FF2B5EF4-FFF2-40B4-BE49-F238E27FC236}">
                <a16:creationId xmlns:a16="http://schemas.microsoft.com/office/drawing/2014/main" id="{A5EC9CC0-3990-F609-8309-75262AE7B722}"/>
              </a:ext>
            </a:extLst>
          </p:cNvPr>
          <p:cNvCxnSpPr/>
          <p:nvPr userDrawn="1"/>
        </p:nvCxnSpPr>
        <p:spPr>
          <a:xfrm>
            <a:off x="650790" y="1011831"/>
            <a:ext cx="1876500" cy="0"/>
          </a:xfrm>
          <a:prstGeom prst="straightConnector1">
            <a:avLst/>
          </a:prstGeom>
          <a:noFill/>
          <a:ln w="28575" cap="rnd" cmpd="sng">
            <a:solidFill>
              <a:schemeClr val="bg2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" name="Google Shape;402;p21">
            <a:extLst>
              <a:ext uri="{FF2B5EF4-FFF2-40B4-BE49-F238E27FC236}">
                <a16:creationId xmlns:a16="http://schemas.microsoft.com/office/drawing/2014/main" id="{93675180-A412-D403-E830-830CBA3DA2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0790" y="3547544"/>
            <a:ext cx="6985200" cy="7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C3E2F-250E-5934-FE6B-64F238D98A95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95977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preserve="1" userDrawn="1">
  <p:cSld name="1_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524040" y="401566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65027-41EC-7ADD-C6AE-65999EABFDA3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  <p:sp>
        <p:nvSpPr>
          <p:cNvPr id="5" name="Google Shape;7;p1">
            <a:extLst>
              <a:ext uri="{FF2B5EF4-FFF2-40B4-BE49-F238E27FC236}">
                <a16:creationId xmlns:a16="http://schemas.microsoft.com/office/drawing/2014/main" id="{60E653AC-E9CA-110B-C4BC-5E45740B2C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4040" y="1828900"/>
            <a:ext cx="9396400" cy="2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chemeClr val="tx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29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preserve="1" userDrawn="1">
  <p:cSld name="1_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C6E76C-B3A8-A5B8-C5C7-E59CB6BACB5B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524040" y="414114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2" name="Google Shape;137;p9">
            <a:extLst>
              <a:ext uri="{FF2B5EF4-FFF2-40B4-BE49-F238E27FC236}">
                <a16:creationId xmlns:a16="http://schemas.microsoft.com/office/drawing/2014/main" id="{C69C0E54-EDFE-88C0-371E-C8F40952D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147339-94C2-AF07-2EF0-69D51E03695D}"/>
              </a:ext>
            </a:extLst>
          </p:cNvPr>
          <p:cNvGrpSpPr/>
          <p:nvPr userDrawn="1"/>
        </p:nvGrpSpPr>
        <p:grpSpPr>
          <a:xfrm>
            <a:off x="7422086" y="1215814"/>
            <a:ext cx="3218821" cy="3221581"/>
            <a:chOff x="4753392" y="3247814"/>
            <a:chExt cx="3218821" cy="3221581"/>
          </a:xfrm>
        </p:grpSpPr>
        <p:sp>
          <p:nvSpPr>
            <p:cNvPr id="11" name="Google Shape;2163;p54">
              <a:extLst>
                <a:ext uri="{FF2B5EF4-FFF2-40B4-BE49-F238E27FC236}">
                  <a16:creationId xmlns:a16="http://schemas.microsoft.com/office/drawing/2014/main" id="{F7E2CCF7-FF89-1B25-B945-7B0F6EC0DED1}"/>
                </a:ext>
              </a:extLst>
            </p:cNvPr>
            <p:cNvSpPr/>
            <p:nvPr userDrawn="1"/>
          </p:nvSpPr>
          <p:spPr>
            <a:xfrm>
              <a:off x="4753392" y="3247814"/>
              <a:ext cx="3218821" cy="3221581"/>
            </a:xfrm>
            <a:custGeom>
              <a:avLst/>
              <a:gdLst/>
              <a:ahLst/>
              <a:cxnLst/>
              <a:rect l="l" t="t" r="r" b="b"/>
              <a:pathLst>
                <a:path w="18363" h="18380" extrusionOk="0">
                  <a:moveTo>
                    <a:pt x="9173" y="4654"/>
                  </a:moveTo>
                  <a:cubicBezTo>
                    <a:pt x="11684" y="4654"/>
                    <a:pt x="13726" y="6696"/>
                    <a:pt x="13726" y="9190"/>
                  </a:cubicBezTo>
                  <a:cubicBezTo>
                    <a:pt x="13726" y="11701"/>
                    <a:pt x="11684" y="13727"/>
                    <a:pt x="9173" y="13727"/>
                  </a:cubicBezTo>
                  <a:cubicBezTo>
                    <a:pt x="6662" y="13727"/>
                    <a:pt x="4637" y="11701"/>
                    <a:pt x="4637" y="9190"/>
                  </a:cubicBezTo>
                  <a:cubicBezTo>
                    <a:pt x="4637" y="6680"/>
                    <a:pt x="6662" y="4654"/>
                    <a:pt x="9173" y="4654"/>
                  </a:cubicBezTo>
                  <a:close/>
                  <a:moveTo>
                    <a:pt x="9173" y="1"/>
                  </a:moveTo>
                  <a:cubicBezTo>
                    <a:pt x="4118" y="1"/>
                    <a:pt x="0" y="4135"/>
                    <a:pt x="0" y="9190"/>
                  </a:cubicBezTo>
                  <a:cubicBezTo>
                    <a:pt x="0" y="14262"/>
                    <a:pt x="4118" y="18380"/>
                    <a:pt x="9173" y="18380"/>
                  </a:cubicBezTo>
                  <a:cubicBezTo>
                    <a:pt x="14245" y="18380"/>
                    <a:pt x="18362" y="14262"/>
                    <a:pt x="18362" y="9190"/>
                  </a:cubicBezTo>
                  <a:cubicBezTo>
                    <a:pt x="18362" y="4135"/>
                    <a:pt x="14245" y="1"/>
                    <a:pt x="9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2164;p54">
              <a:extLst>
                <a:ext uri="{FF2B5EF4-FFF2-40B4-BE49-F238E27FC236}">
                  <a16:creationId xmlns:a16="http://schemas.microsoft.com/office/drawing/2014/main" id="{8DC0C20F-CE65-952B-B2BC-15824FED35B9}"/>
                </a:ext>
              </a:extLst>
            </p:cNvPr>
            <p:cNvSpPr/>
            <p:nvPr userDrawn="1"/>
          </p:nvSpPr>
          <p:spPr>
            <a:xfrm>
              <a:off x="5184689" y="3680572"/>
              <a:ext cx="2356227" cy="2356065"/>
            </a:xfrm>
            <a:custGeom>
              <a:avLst/>
              <a:gdLst/>
              <a:ahLst/>
              <a:cxnLst/>
              <a:rect l="l" t="t" r="r" b="b"/>
              <a:pathLst>
                <a:path w="13442" h="13442" extrusionOk="0">
                  <a:moveTo>
                    <a:pt x="6713" y="2159"/>
                  </a:moveTo>
                  <a:cubicBezTo>
                    <a:pt x="9224" y="2159"/>
                    <a:pt x="11266" y="4185"/>
                    <a:pt x="11266" y="6695"/>
                  </a:cubicBezTo>
                  <a:cubicBezTo>
                    <a:pt x="11266" y="9206"/>
                    <a:pt x="9224" y="11232"/>
                    <a:pt x="6713" y="11232"/>
                  </a:cubicBezTo>
                  <a:cubicBezTo>
                    <a:pt x="4202" y="11232"/>
                    <a:pt x="2177" y="9206"/>
                    <a:pt x="2177" y="6695"/>
                  </a:cubicBezTo>
                  <a:cubicBezTo>
                    <a:pt x="2177" y="4185"/>
                    <a:pt x="4202" y="2159"/>
                    <a:pt x="6713" y="2159"/>
                  </a:cubicBezTo>
                  <a:close/>
                  <a:moveTo>
                    <a:pt x="6713" y="0"/>
                  </a:moveTo>
                  <a:cubicBezTo>
                    <a:pt x="3014" y="0"/>
                    <a:pt x="1" y="3013"/>
                    <a:pt x="1" y="6712"/>
                  </a:cubicBezTo>
                  <a:cubicBezTo>
                    <a:pt x="1" y="10428"/>
                    <a:pt x="3014" y="13441"/>
                    <a:pt x="6713" y="13441"/>
                  </a:cubicBezTo>
                  <a:cubicBezTo>
                    <a:pt x="10429" y="13441"/>
                    <a:pt x="13442" y="10428"/>
                    <a:pt x="13442" y="6712"/>
                  </a:cubicBezTo>
                  <a:cubicBezTo>
                    <a:pt x="13442" y="3013"/>
                    <a:pt x="10429" y="0"/>
                    <a:pt x="6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050EB6-9EF4-A817-BC6B-7EB73D0490C9}"/>
              </a:ext>
            </a:extLst>
          </p:cNvPr>
          <p:cNvGrpSpPr/>
          <p:nvPr userDrawn="1"/>
        </p:nvGrpSpPr>
        <p:grpSpPr>
          <a:xfrm>
            <a:off x="3247324" y="3222305"/>
            <a:ext cx="3218821" cy="3221581"/>
            <a:chOff x="4753392" y="3247814"/>
            <a:chExt cx="3218821" cy="3221581"/>
          </a:xfrm>
        </p:grpSpPr>
        <p:sp>
          <p:nvSpPr>
            <p:cNvPr id="14" name="Google Shape;2163;p54">
              <a:extLst>
                <a:ext uri="{FF2B5EF4-FFF2-40B4-BE49-F238E27FC236}">
                  <a16:creationId xmlns:a16="http://schemas.microsoft.com/office/drawing/2014/main" id="{C09B692D-8B9D-DCD5-A316-6593F629CB08}"/>
                </a:ext>
              </a:extLst>
            </p:cNvPr>
            <p:cNvSpPr/>
            <p:nvPr userDrawn="1"/>
          </p:nvSpPr>
          <p:spPr>
            <a:xfrm>
              <a:off x="4753392" y="3247814"/>
              <a:ext cx="3218821" cy="3221581"/>
            </a:xfrm>
            <a:custGeom>
              <a:avLst/>
              <a:gdLst/>
              <a:ahLst/>
              <a:cxnLst/>
              <a:rect l="l" t="t" r="r" b="b"/>
              <a:pathLst>
                <a:path w="18363" h="18380" extrusionOk="0">
                  <a:moveTo>
                    <a:pt x="9173" y="4654"/>
                  </a:moveTo>
                  <a:cubicBezTo>
                    <a:pt x="11684" y="4654"/>
                    <a:pt x="13726" y="6696"/>
                    <a:pt x="13726" y="9190"/>
                  </a:cubicBezTo>
                  <a:cubicBezTo>
                    <a:pt x="13726" y="11701"/>
                    <a:pt x="11684" y="13727"/>
                    <a:pt x="9173" y="13727"/>
                  </a:cubicBezTo>
                  <a:cubicBezTo>
                    <a:pt x="6662" y="13727"/>
                    <a:pt x="4637" y="11701"/>
                    <a:pt x="4637" y="9190"/>
                  </a:cubicBezTo>
                  <a:cubicBezTo>
                    <a:pt x="4637" y="6680"/>
                    <a:pt x="6662" y="4654"/>
                    <a:pt x="9173" y="4654"/>
                  </a:cubicBezTo>
                  <a:close/>
                  <a:moveTo>
                    <a:pt x="9173" y="1"/>
                  </a:moveTo>
                  <a:cubicBezTo>
                    <a:pt x="4118" y="1"/>
                    <a:pt x="0" y="4135"/>
                    <a:pt x="0" y="9190"/>
                  </a:cubicBezTo>
                  <a:cubicBezTo>
                    <a:pt x="0" y="14262"/>
                    <a:pt x="4118" y="18380"/>
                    <a:pt x="9173" y="18380"/>
                  </a:cubicBezTo>
                  <a:cubicBezTo>
                    <a:pt x="14245" y="18380"/>
                    <a:pt x="18362" y="14262"/>
                    <a:pt x="18362" y="9190"/>
                  </a:cubicBezTo>
                  <a:cubicBezTo>
                    <a:pt x="18362" y="4135"/>
                    <a:pt x="14245" y="1"/>
                    <a:pt x="9173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164;p54">
              <a:extLst>
                <a:ext uri="{FF2B5EF4-FFF2-40B4-BE49-F238E27FC236}">
                  <a16:creationId xmlns:a16="http://schemas.microsoft.com/office/drawing/2014/main" id="{386EC926-CCD3-9FC7-4417-8CD277F4DEA7}"/>
                </a:ext>
              </a:extLst>
            </p:cNvPr>
            <p:cNvSpPr/>
            <p:nvPr userDrawn="1"/>
          </p:nvSpPr>
          <p:spPr>
            <a:xfrm>
              <a:off x="5184689" y="3680572"/>
              <a:ext cx="2356227" cy="2356065"/>
            </a:xfrm>
            <a:custGeom>
              <a:avLst/>
              <a:gdLst/>
              <a:ahLst/>
              <a:cxnLst/>
              <a:rect l="l" t="t" r="r" b="b"/>
              <a:pathLst>
                <a:path w="13442" h="13442" extrusionOk="0">
                  <a:moveTo>
                    <a:pt x="6713" y="2159"/>
                  </a:moveTo>
                  <a:cubicBezTo>
                    <a:pt x="9224" y="2159"/>
                    <a:pt x="11266" y="4185"/>
                    <a:pt x="11266" y="6695"/>
                  </a:cubicBezTo>
                  <a:cubicBezTo>
                    <a:pt x="11266" y="9206"/>
                    <a:pt x="9224" y="11232"/>
                    <a:pt x="6713" y="11232"/>
                  </a:cubicBezTo>
                  <a:cubicBezTo>
                    <a:pt x="4202" y="11232"/>
                    <a:pt x="2177" y="9206"/>
                    <a:pt x="2177" y="6695"/>
                  </a:cubicBezTo>
                  <a:cubicBezTo>
                    <a:pt x="2177" y="4185"/>
                    <a:pt x="4202" y="2159"/>
                    <a:pt x="6713" y="2159"/>
                  </a:cubicBezTo>
                  <a:close/>
                  <a:moveTo>
                    <a:pt x="6713" y="0"/>
                  </a:moveTo>
                  <a:cubicBezTo>
                    <a:pt x="3014" y="0"/>
                    <a:pt x="1" y="3013"/>
                    <a:pt x="1" y="6712"/>
                  </a:cubicBezTo>
                  <a:cubicBezTo>
                    <a:pt x="1" y="10428"/>
                    <a:pt x="3014" y="13441"/>
                    <a:pt x="6713" y="13441"/>
                  </a:cubicBezTo>
                  <a:cubicBezTo>
                    <a:pt x="10429" y="13441"/>
                    <a:pt x="13442" y="10428"/>
                    <a:pt x="13442" y="6712"/>
                  </a:cubicBezTo>
                  <a:cubicBezTo>
                    <a:pt x="13442" y="3013"/>
                    <a:pt x="10429" y="0"/>
                    <a:pt x="67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546791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&amp; 3 columns slide" userDrawn="1">
  <p:cSld name="Photo &amp; 3 columns slide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A8E7-F869-909B-55B9-6FB23CD9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0" y="453387"/>
            <a:ext cx="9396400" cy="643200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Google Shape;137;p9">
            <a:extLst>
              <a:ext uri="{FF2B5EF4-FFF2-40B4-BE49-F238E27FC236}">
                <a16:creationId xmlns:a16="http://schemas.microsoft.com/office/drawing/2014/main" id="{45CA1CC0-EFA7-7FB4-4D4A-9312C68D1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sp>
        <p:nvSpPr>
          <p:cNvPr id="4" name="Google Shape;138;p9">
            <a:extLst>
              <a:ext uri="{FF2B5EF4-FFF2-40B4-BE49-F238E27FC236}">
                <a16:creationId xmlns:a16="http://schemas.microsoft.com/office/drawing/2014/main" id="{97C6E6E9-0F13-A979-0CD5-200E588B06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chemeClr val="tx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363B6-7568-6BB7-E2D3-24A0ADE22D82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30281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&amp; 3 columns slide" preserve="1" userDrawn="1">
  <p:cSld name="1_Photo &amp; 3 columns slide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A8E7-F869-909B-55B9-6FB23CD9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0" y="453387"/>
            <a:ext cx="9396400" cy="6432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Google Shape;137;p9">
            <a:extLst>
              <a:ext uri="{FF2B5EF4-FFF2-40B4-BE49-F238E27FC236}">
                <a16:creationId xmlns:a16="http://schemas.microsoft.com/office/drawing/2014/main" id="{45CA1CC0-EFA7-7FB4-4D4A-9312C68D1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sp>
        <p:nvSpPr>
          <p:cNvPr id="4" name="Google Shape;138;p9">
            <a:extLst>
              <a:ext uri="{FF2B5EF4-FFF2-40B4-BE49-F238E27FC236}">
                <a16:creationId xmlns:a16="http://schemas.microsoft.com/office/drawing/2014/main" id="{13A2DCB3-4CB8-205D-572A-2301CC610B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DB499-B52C-AE87-849C-0BDFF116C724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425367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&amp; some text slide 1">
  <p:cSld name="BIG text &amp; some text slide 1">
    <p:bg>
      <p:bgPr>
        <a:solidFill>
          <a:schemeClr val="accent5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"/>
          <p:cNvSpPr/>
          <p:nvPr/>
        </p:nvSpPr>
        <p:spPr>
          <a:xfrm>
            <a:off x="-25010" y="-28516"/>
            <a:ext cx="6606635" cy="6915021"/>
          </a:xfrm>
          <a:custGeom>
            <a:avLst/>
            <a:gdLst/>
            <a:ahLst/>
            <a:cxnLst/>
            <a:rect l="l" t="t" r="r" b="b"/>
            <a:pathLst>
              <a:path w="29007" h="30361" extrusionOk="0">
                <a:moveTo>
                  <a:pt x="0" y="1"/>
                </a:moveTo>
                <a:lnTo>
                  <a:pt x="0" y="30360"/>
                </a:lnTo>
                <a:lnTo>
                  <a:pt x="15547" y="30360"/>
                </a:lnTo>
                <a:cubicBezTo>
                  <a:pt x="15471" y="30274"/>
                  <a:pt x="15393" y="30192"/>
                  <a:pt x="15318" y="30106"/>
                </a:cubicBezTo>
                <a:cubicBezTo>
                  <a:pt x="13861" y="28420"/>
                  <a:pt x="13081" y="26234"/>
                  <a:pt x="12769" y="24029"/>
                </a:cubicBezTo>
                <a:cubicBezTo>
                  <a:pt x="12365" y="21159"/>
                  <a:pt x="12744" y="18110"/>
                  <a:pt x="14230" y="15619"/>
                </a:cubicBezTo>
                <a:cubicBezTo>
                  <a:pt x="15897" y="12827"/>
                  <a:pt x="18746" y="10995"/>
                  <a:pt x="21448" y="9184"/>
                </a:cubicBezTo>
                <a:cubicBezTo>
                  <a:pt x="24154" y="7377"/>
                  <a:pt x="26924" y="5355"/>
                  <a:pt x="28273" y="2399"/>
                </a:cubicBezTo>
                <a:cubicBezTo>
                  <a:pt x="28624" y="1629"/>
                  <a:pt x="28864" y="824"/>
                  <a:pt x="290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1"/>
          <p:cNvSpPr/>
          <p:nvPr/>
        </p:nvSpPr>
        <p:spPr>
          <a:xfrm>
            <a:off x="-25009" y="-28516"/>
            <a:ext cx="3489739" cy="1626435"/>
          </a:xfrm>
          <a:custGeom>
            <a:avLst/>
            <a:gdLst/>
            <a:ahLst/>
            <a:cxnLst/>
            <a:rect l="l" t="t" r="r" b="b"/>
            <a:pathLst>
              <a:path w="15322" h="7141" extrusionOk="0">
                <a:moveTo>
                  <a:pt x="0" y="1"/>
                </a:moveTo>
                <a:lnTo>
                  <a:pt x="0" y="7141"/>
                </a:lnTo>
                <a:cubicBezTo>
                  <a:pt x="143" y="7141"/>
                  <a:pt x="290" y="7137"/>
                  <a:pt x="433" y="7133"/>
                </a:cubicBezTo>
                <a:cubicBezTo>
                  <a:pt x="3686" y="7076"/>
                  <a:pt x="6997" y="6579"/>
                  <a:pt x="9903" y="5111"/>
                </a:cubicBezTo>
                <a:cubicBezTo>
                  <a:pt x="12150" y="3977"/>
                  <a:pt x="14140" y="2202"/>
                  <a:pt x="153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21"/>
          <p:cNvSpPr/>
          <p:nvPr/>
        </p:nvSpPr>
        <p:spPr>
          <a:xfrm>
            <a:off x="361276" y="4838748"/>
            <a:ext cx="1577465" cy="1577465"/>
          </a:xfrm>
          <a:custGeom>
            <a:avLst/>
            <a:gdLst/>
            <a:ahLst/>
            <a:cxnLst/>
            <a:rect l="l" t="t" r="r" b="b"/>
            <a:pathLst>
              <a:path w="6926" h="6926" extrusionOk="0">
                <a:moveTo>
                  <a:pt x="3461" y="0"/>
                </a:moveTo>
                <a:cubicBezTo>
                  <a:pt x="1550" y="0"/>
                  <a:pt x="0" y="1550"/>
                  <a:pt x="0" y="3461"/>
                </a:cubicBezTo>
                <a:cubicBezTo>
                  <a:pt x="0" y="5375"/>
                  <a:pt x="1550" y="6925"/>
                  <a:pt x="3461" y="6925"/>
                </a:cubicBezTo>
                <a:cubicBezTo>
                  <a:pt x="5372" y="6925"/>
                  <a:pt x="6926" y="5375"/>
                  <a:pt x="6926" y="3461"/>
                </a:cubicBezTo>
                <a:cubicBezTo>
                  <a:pt x="6926" y="1550"/>
                  <a:pt x="5372" y="0"/>
                  <a:pt x="34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1"/>
          <p:cNvSpPr/>
          <p:nvPr/>
        </p:nvSpPr>
        <p:spPr>
          <a:xfrm>
            <a:off x="10094397" y="5056988"/>
            <a:ext cx="1134928" cy="1134928"/>
          </a:xfrm>
          <a:custGeom>
            <a:avLst/>
            <a:gdLst/>
            <a:ahLst/>
            <a:cxnLst/>
            <a:rect l="l" t="t" r="r" b="b"/>
            <a:pathLst>
              <a:path w="4983" h="4983" extrusionOk="0">
                <a:moveTo>
                  <a:pt x="2491" y="1"/>
                </a:moveTo>
                <a:cubicBezTo>
                  <a:pt x="1114" y="1"/>
                  <a:pt x="1" y="1114"/>
                  <a:pt x="1" y="2492"/>
                </a:cubicBezTo>
                <a:cubicBezTo>
                  <a:pt x="1" y="3866"/>
                  <a:pt x="1114" y="4983"/>
                  <a:pt x="2491" y="4983"/>
                </a:cubicBezTo>
                <a:cubicBezTo>
                  <a:pt x="3866" y="4983"/>
                  <a:pt x="4982" y="3866"/>
                  <a:pt x="4982" y="2492"/>
                </a:cubicBezTo>
                <a:cubicBezTo>
                  <a:pt x="4982" y="1114"/>
                  <a:pt x="3866" y="1"/>
                  <a:pt x="249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1"/>
          <p:cNvSpPr txBox="1">
            <a:spLocks noGrp="1"/>
          </p:cNvSpPr>
          <p:nvPr>
            <p:ph type="subTitle" idx="1"/>
          </p:nvPr>
        </p:nvSpPr>
        <p:spPr>
          <a:xfrm>
            <a:off x="565900" y="1597931"/>
            <a:ext cx="11060400" cy="28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2" name="Google Shape;402;p21"/>
          <p:cNvSpPr txBox="1">
            <a:spLocks noGrp="1"/>
          </p:cNvSpPr>
          <p:nvPr>
            <p:ph type="subTitle" idx="2"/>
          </p:nvPr>
        </p:nvSpPr>
        <p:spPr>
          <a:xfrm>
            <a:off x="2603391" y="4356600"/>
            <a:ext cx="6985200" cy="7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03" name="Google Shape;403;p21"/>
          <p:cNvCxnSpPr/>
          <p:nvPr/>
        </p:nvCxnSpPr>
        <p:spPr>
          <a:xfrm>
            <a:off x="5085800" y="4217371"/>
            <a:ext cx="202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8840D7E-364D-A655-895C-B2527422699D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409336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3E149-46C6-7D63-FCD7-4292E6554368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76945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subtitles">
  <p:cSld name="Numbers and subtitles">
    <p:bg>
      <p:bgPr>
        <a:solidFill>
          <a:schemeClr val="accent4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/>
          <p:nvPr/>
        </p:nvSpPr>
        <p:spPr>
          <a:xfrm>
            <a:off x="-2" y="0"/>
            <a:ext cx="12192076" cy="6908904"/>
          </a:xfrm>
          <a:custGeom>
            <a:avLst/>
            <a:gdLst/>
            <a:ahLst/>
            <a:cxnLst/>
            <a:rect l="l" t="t" r="r" b="b"/>
            <a:pathLst>
              <a:path w="53336" h="30224" extrusionOk="0">
                <a:moveTo>
                  <a:pt x="0" y="0"/>
                </a:moveTo>
                <a:lnTo>
                  <a:pt x="0" y="30224"/>
                </a:lnTo>
                <a:lnTo>
                  <a:pt x="53336" y="30224"/>
                </a:lnTo>
                <a:lnTo>
                  <a:pt x="533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5" name="Google Shape;415;p23"/>
          <p:cNvSpPr/>
          <p:nvPr/>
        </p:nvSpPr>
        <p:spPr>
          <a:xfrm>
            <a:off x="5590783" y="0"/>
            <a:ext cx="6601223" cy="6908904"/>
          </a:xfrm>
          <a:custGeom>
            <a:avLst/>
            <a:gdLst/>
            <a:ahLst/>
            <a:cxnLst/>
            <a:rect l="l" t="t" r="r" b="b"/>
            <a:pathLst>
              <a:path w="28878" h="30224" extrusionOk="0">
                <a:moveTo>
                  <a:pt x="13399" y="0"/>
                </a:moveTo>
                <a:cubicBezTo>
                  <a:pt x="13478" y="83"/>
                  <a:pt x="13553" y="169"/>
                  <a:pt x="13628" y="254"/>
                </a:cubicBezTo>
                <a:cubicBezTo>
                  <a:pt x="15078" y="1929"/>
                  <a:pt x="15854" y="4105"/>
                  <a:pt x="16166" y="6299"/>
                </a:cubicBezTo>
                <a:cubicBezTo>
                  <a:pt x="16570" y="9159"/>
                  <a:pt x="16194" y="12193"/>
                  <a:pt x="14713" y="14674"/>
                </a:cubicBezTo>
                <a:cubicBezTo>
                  <a:pt x="13056" y="17454"/>
                  <a:pt x="10218" y="19280"/>
                  <a:pt x="7526" y="21080"/>
                </a:cubicBezTo>
                <a:cubicBezTo>
                  <a:pt x="4835" y="22876"/>
                  <a:pt x="2076" y="24891"/>
                  <a:pt x="730" y="27837"/>
                </a:cubicBezTo>
                <a:cubicBezTo>
                  <a:pt x="383" y="28599"/>
                  <a:pt x="143" y="29401"/>
                  <a:pt x="0" y="30224"/>
                </a:cubicBezTo>
                <a:lnTo>
                  <a:pt x="28878" y="30224"/>
                </a:lnTo>
                <a:lnTo>
                  <a:pt x="288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23"/>
          <p:cNvSpPr/>
          <p:nvPr/>
        </p:nvSpPr>
        <p:spPr>
          <a:xfrm>
            <a:off x="10230875" y="469521"/>
            <a:ext cx="1575900" cy="1575900"/>
          </a:xfrm>
          <a:custGeom>
            <a:avLst/>
            <a:gdLst/>
            <a:ahLst/>
            <a:cxnLst/>
            <a:rect l="l" t="t" r="r" b="b"/>
            <a:pathLst>
              <a:path w="6894" h="6894" extrusionOk="0">
                <a:moveTo>
                  <a:pt x="3447" y="1"/>
                </a:moveTo>
                <a:cubicBezTo>
                  <a:pt x="1543" y="1"/>
                  <a:pt x="0" y="1543"/>
                  <a:pt x="0" y="3447"/>
                </a:cubicBezTo>
                <a:cubicBezTo>
                  <a:pt x="0" y="5351"/>
                  <a:pt x="1543" y="6893"/>
                  <a:pt x="3447" y="6893"/>
                </a:cubicBezTo>
                <a:cubicBezTo>
                  <a:pt x="5351" y="6893"/>
                  <a:pt x="6893" y="5351"/>
                  <a:pt x="6893" y="3447"/>
                </a:cubicBezTo>
                <a:cubicBezTo>
                  <a:pt x="6893" y="1543"/>
                  <a:pt x="5351" y="1"/>
                  <a:pt x="34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23"/>
          <p:cNvSpPr txBox="1">
            <a:spLocks noGrp="1"/>
          </p:cNvSpPr>
          <p:nvPr>
            <p:ph type="title" hasCustomPrompt="1"/>
          </p:nvPr>
        </p:nvSpPr>
        <p:spPr>
          <a:xfrm>
            <a:off x="1179300" y="1115567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8" name="Google Shape;418;p23"/>
          <p:cNvSpPr txBox="1">
            <a:spLocks noGrp="1"/>
          </p:cNvSpPr>
          <p:nvPr>
            <p:ph type="subTitle" idx="1"/>
          </p:nvPr>
        </p:nvSpPr>
        <p:spPr>
          <a:xfrm>
            <a:off x="2957133" y="2094267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23"/>
          <p:cNvSpPr txBox="1">
            <a:spLocks noGrp="1"/>
          </p:cNvSpPr>
          <p:nvPr>
            <p:ph type="title" idx="2" hasCustomPrompt="1"/>
          </p:nvPr>
        </p:nvSpPr>
        <p:spPr>
          <a:xfrm>
            <a:off x="1179300" y="2645633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0" name="Google Shape;420;p23"/>
          <p:cNvSpPr txBox="1">
            <a:spLocks noGrp="1"/>
          </p:cNvSpPr>
          <p:nvPr>
            <p:ph type="subTitle" idx="3"/>
          </p:nvPr>
        </p:nvSpPr>
        <p:spPr>
          <a:xfrm>
            <a:off x="2957133" y="3624333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23"/>
          <p:cNvSpPr txBox="1">
            <a:spLocks noGrp="1"/>
          </p:cNvSpPr>
          <p:nvPr>
            <p:ph type="title" idx="4" hasCustomPrompt="1"/>
          </p:nvPr>
        </p:nvSpPr>
        <p:spPr>
          <a:xfrm>
            <a:off x="1179300" y="4226500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2" name="Google Shape;422;p23"/>
          <p:cNvSpPr txBox="1">
            <a:spLocks noGrp="1"/>
          </p:cNvSpPr>
          <p:nvPr>
            <p:ph type="subTitle" idx="5"/>
          </p:nvPr>
        </p:nvSpPr>
        <p:spPr>
          <a:xfrm>
            <a:off x="2957133" y="5205200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5B018-27E5-1C8E-346A-48FA6A915816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2144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97800" y="5008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4256"/>
              </a:buClr>
              <a:buSzPts val="2400"/>
              <a:buFont typeface="Open Sans"/>
              <a:buNone/>
              <a:defRPr sz="2400" b="1">
                <a:solidFill>
                  <a:srgbClr val="31425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4133" y="3314800"/>
            <a:ext cx="9396400" cy="2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751433" y="6333200"/>
            <a:ext cx="4404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2806110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>
            <a:spLocks noGrp="1"/>
          </p:cNvSpPr>
          <p:nvPr>
            <p:ph type="body" idx="4294967295"/>
          </p:nvPr>
        </p:nvSpPr>
        <p:spPr>
          <a:xfrm>
            <a:off x="492880" y="3019837"/>
            <a:ext cx="6229512" cy="120109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Lecture 13 – ASBE 2025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63" name="Google Shape;563;p36"/>
          <p:cNvSpPr txBox="1">
            <a:spLocks noGrp="1"/>
          </p:cNvSpPr>
          <p:nvPr>
            <p:ph type="title"/>
          </p:nvPr>
        </p:nvSpPr>
        <p:spPr>
          <a:xfrm>
            <a:off x="492880" y="1441993"/>
            <a:ext cx="7922000" cy="16044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4400" b="1" dirty="0">
                <a:solidFill>
                  <a:srgbClr val="434343"/>
                </a:solidFill>
              </a:rPr>
              <a:t>Compact binaries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1C49-25D2-BC7F-CC14-6A561509A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040" y="453387"/>
            <a:ext cx="9396400" cy="609367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Energetics of core collapse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EFE172-4C4E-752C-B424-487C5876934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24040" y="3029950"/>
                <a:ext cx="9396400" cy="1395160"/>
              </a:xfrm>
            </p:spPr>
            <p:txBody>
              <a:bodyPr wrap="square">
                <a:spAutoFit/>
              </a:bodyPr>
              <a:lstStyle/>
              <a:p>
                <a:pPr marL="285750" lvl="1" indent="-285750"/>
                <a:r>
                  <a:rPr lang="en-US" sz="1800" dirty="0">
                    <a:solidFill>
                      <a:schemeClr val="accent4"/>
                    </a:solidFill>
                  </a:rPr>
                  <a:t>Envelope </a:t>
                </a:r>
                <a:r>
                  <a:rPr lang="en-US" sz="1800" dirty="0">
                    <a:solidFill>
                      <a:srgbClr val="000000"/>
                    </a:solidFill>
                  </a:rPr>
                  <a:t>binding energy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NL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NL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NL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𝐺𝑚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nary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𝑑𝑚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</a:rPr>
                  <a:t>				</a:t>
                </a:r>
                <a:r>
                  <a:rPr lang="en-US" sz="1800" i="1" dirty="0" err="1">
                    <a:solidFill>
                      <a:schemeClr val="accent4"/>
                    </a:solidFill>
                  </a:rPr>
                  <a:t>E</a:t>
                </a:r>
                <a:r>
                  <a:rPr lang="en-US" sz="1800" baseline="-25000" dirty="0" err="1">
                    <a:solidFill>
                      <a:schemeClr val="accent4"/>
                    </a:solidFill>
                  </a:rPr>
                  <a:t>env</a:t>
                </a:r>
                <a:r>
                  <a:rPr lang="en-US" sz="1800" baseline="-250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&lt;</a:t>
                </a:r>
                <a:r>
                  <a:rPr lang="en-US" sz="1800" dirty="0">
                    <a:solidFill>
                      <a:schemeClr val="accent4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chemeClr val="accent4"/>
                    </a:solidFill>
                  </a:rPr>
                  <a:t>50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 erg</a:t>
                </a:r>
              </a:p>
              <a:p>
                <a:pPr marL="285750" lvl="1" indent="-285750"/>
                <a:r>
                  <a:rPr lang="en-US" sz="1800" dirty="0">
                    <a:solidFill>
                      <a:srgbClr val="000000"/>
                    </a:solidFill>
                  </a:rPr>
                  <a:t>total </a:t>
                </a:r>
                <a:r>
                  <a:rPr lang="en-US" sz="1800" dirty="0">
                    <a:solidFill>
                      <a:srgbClr val="00B050"/>
                    </a:solidFill>
                  </a:rPr>
                  <a:t>kinetic energy </a:t>
                </a:r>
                <a:r>
                  <a:rPr lang="en-US" sz="1800" dirty="0">
                    <a:solidFill>
                      <a:srgbClr val="000000"/>
                    </a:solidFill>
                  </a:rPr>
                  <a:t>in ejected material 				</a:t>
                </a:r>
                <a:r>
                  <a:rPr lang="en-US" sz="1800" i="1" dirty="0">
                    <a:solidFill>
                      <a:srgbClr val="00B050"/>
                    </a:solidFill>
                  </a:rPr>
                  <a:t>E</a:t>
                </a:r>
                <a:r>
                  <a:rPr lang="en-US" sz="1800" baseline="-25000" dirty="0">
                    <a:solidFill>
                      <a:srgbClr val="00B050"/>
                    </a:solidFill>
                  </a:rPr>
                  <a:t>kin </a:t>
                </a:r>
                <a:r>
                  <a:rPr lang="en-US" sz="1800" dirty="0">
                    <a:solidFill>
                      <a:srgbClr val="00B050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rgbClr val="00B050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rgbClr val="00B050"/>
                    </a:solidFill>
                  </a:rPr>
                  <a:t>51</a:t>
                </a:r>
                <a:r>
                  <a:rPr lang="en-US" sz="1800" dirty="0">
                    <a:solidFill>
                      <a:srgbClr val="00B050"/>
                    </a:solidFill>
                  </a:rPr>
                  <a:t> erg</a:t>
                </a:r>
                <a:br>
                  <a:rPr lang="en-US" sz="1800" dirty="0">
                    <a:solidFill>
                      <a:srgbClr val="00B050"/>
                    </a:solidFill>
                  </a:rPr>
                </a:br>
                <a:r>
                  <a:rPr lang="en-US" sz="1400" dirty="0">
                    <a:solidFill>
                      <a:srgbClr val="000000"/>
                    </a:solidFill>
                  </a:rPr>
                  <a:t>(5–10 </a:t>
                </a:r>
                <a:r>
                  <a:rPr lang="en-US" sz="1400" i="1" dirty="0" err="1">
                    <a:solidFill>
                      <a:srgbClr val="000000"/>
                    </a:solidFill>
                  </a:rPr>
                  <a:t>M</a:t>
                </a:r>
                <a:r>
                  <a:rPr lang="en-US" sz="1400" baseline="-25000" dirty="0" err="1">
                    <a:solidFill>
                      <a:srgbClr val="000000"/>
                    </a:solidFill>
                  </a:rPr>
                  <a:t>sun</a:t>
                </a:r>
                <a:r>
                  <a:rPr lang="en-US" sz="1400" dirty="0">
                    <a:solidFill>
                      <a:srgbClr val="000000"/>
                    </a:solidFill>
                  </a:rPr>
                  <a:t> SN ejecta observed to move at ~10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4</a:t>
                </a:r>
                <a:r>
                  <a:rPr lang="en-US" sz="1400" dirty="0">
                    <a:solidFill>
                      <a:srgbClr val="000000"/>
                    </a:solidFill>
                  </a:rPr>
                  <a:t> km/s)</a:t>
                </a:r>
                <a:endParaRPr lang="en-US" sz="1800" dirty="0">
                  <a:solidFill>
                    <a:srgbClr val="CC0000"/>
                  </a:solidFill>
                </a:endParaRPr>
              </a:p>
              <a:p>
                <a:pPr marL="285750" lvl="1" indent="-285750"/>
                <a:r>
                  <a:rPr lang="en-US" sz="1800" dirty="0">
                    <a:solidFill>
                      <a:srgbClr val="000000"/>
                    </a:solidFill>
                  </a:rPr>
                  <a:t>total </a:t>
                </a:r>
                <a:r>
                  <a:rPr lang="en-US" sz="1800" dirty="0">
                    <a:solidFill>
                      <a:srgbClr val="F6A929"/>
                    </a:solidFill>
                  </a:rPr>
                  <a:t>radiated energy </a:t>
                </a:r>
                <a:r>
                  <a:rPr lang="en-US" sz="1800" dirty="0">
                    <a:solidFill>
                      <a:srgbClr val="000000"/>
                    </a:solidFill>
                  </a:rPr>
                  <a:t>observed in </a:t>
                </a:r>
                <a:r>
                  <a:rPr lang="en-US" sz="1800" dirty="0" err="1">
                    <a:solidFill>
                      <a:srgbClr val="000000"/>
                    </a:solidFill>
                  </a:rPr>
                  <a:t>lightcurve</a:t>
                </a:r>
                <a:r>
                  <a:rPr lang="en-US" sz="1800" dirty="0">
                    <a:solidFill>
                      <a:srgbClr val="000000"/>
                    </a:solidFill>
                  </a:rPr>
                  <a:t>: 	     		</a:t>
                </a:r>
                <a:r>
                  <a:rPr lang="en-US" sz="1800" i="1" dirty="0" err="1">
                    <a:solidFill>
                      <a:srgbClr val="F6A929"/>
                    </a:solidFill>
                  </a:rPr>
                  <a:t>E</a:t>
                </a:r>
                <a:r>
                  <a:rPr lang="en-US" sz="1800" baseline="-25000" dirty="0" err="1">
                    <a:solidFill>
                      <a:srgbClr val="F6A929"/>
                    </a:solidFill>
                  </a:rPr>
                  <a:t>rad</a:t>
                </a:r>
                <a:r>
                  <a:rPr lang="en-US" sz="1800" baseline="-25000" dirty="0">
                    <a:solidFill>
                      <a:srgbClr val="F6A929"/>
                    </a:solidFill>
                  </a:rPr>
                  <a:t> </a:t>
                </a:r>
                <a:r>
                  <a:rPr lang="en-US" sz="1800" dirty="0">
                    <a:solidFill>
                      <a:srgbClr val="F6A929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rgbClr val="F6A929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rgbClr val="F6A929"/>
                    </a:solidFill>
                  </a:rPr>
                  <a:t>49</a:t>
                </a:r>
                <a:r>
                  <a:rPr lang="en-US" sz="1800" dirty="0">
                    <a:solidFill>
                      <a:srgbClr val="F6A929"/>
                    </a:solidFill>
                  </a:rPr>
                  <a:t> erg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EFE172-4C4E-752C-B424-487C5876934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24040" y="3029950"/>
                <a:ext cx="9396400" cy="1395160"/>
              </a:xfrm>
              <a:blipFill>
                <a:blip r:embed="rId3"/>
                <a:stretch>
                  <a:fillRect l="-135" t="-29730" b="-9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2CEEB8-5785-46C4-02E8-BD238656CAB1}"/>
              </a:ext>
            </a:extLst>
          </p:cNvPr>
          <p:cNvSpPr txBox="1"/>
          <p:nvPr/>
        </p:nvSpPr>
        <p:spPr>
          <a:xfrm>
            <a:off x="9524212" y="6254439"/>
            <a:ext cx="1142462" cy="288654"/>
          </a:xfrm>
          <a:prstGeom prst="rect">
            <a:avLst/>
          </a:prstGeom>
          <a:noFill/>
          <a:ln>
            <a:noFill/>
          </a:ln>
        </p:spPr>
        <p:txBody>
          <a:bodyPr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452">
                <a:latin typeface="Liberation Serif" pitchFamily="18"/>
                <a:ea typeface="Luxi Sans" pitchFamily="2"/>
                <a:cs typeface="Luxi Sans" pitchFamily="2"/>
              </a:rPr>
              <a:t>LN, Ch. 13.2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289E7-9C51-72B5-DA60-7AD7FD0A3E8E}"/>
              </a:ext>
            </a:extLst>
          </p:cNvPr>
          <p:cNvSpPr txBox="1"/>
          <p:nvPr/>
        </p:nvSpPr>
        <p:spPr>
          <a:xfrm>
            <a:off x="524040" y="1080352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>
                <a:solidFill>
                  <a:srgbClr val="000000"/>
                </a:solidFill>
              </a:rPr>
              <a:t>otal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gravitational energy released in core collapse</a:t>
            </a:r>
            <a:r>
              <a:rPr lang="en-US" dirty="0">
                <a:solidFill>
                  <a:srgbClr val="000000"/>
                </a:solidFill>
              </a:rPr>
              <a:t> to a proto-NS 		</a:t>
            </a:r>
          </a:p>
          <a:p>
            <a:r>
              <a:rPr lang="en-US" dirty="0">
                <a:solidFill>
                  <a:srgbClr val="000000"/>
                </a:solidFill>
              </a:rPr>
              <a:t>with </a:t>
            </a:r>
            <a:r>
              <a:rPr lang="en-US" i="1" dirty="0">
                <a:solidFill>
                  <a:srgbClr val="000000"/>
                </a:solidFill>
              </a:rPr>
              <a:t>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  <a:latin typeface="Symbol" pitchFamily="18"/>
              </a:rPr>
              <a:t>»</a:t>
            </a:r>
            <a:r>
              <a:rPr lang="en-US" dirty="0">
                <a:solidFill>
                  <a:srgbClr val="000000"/>
                </a:solidFill>
              </a:rPr>
              <a:t> 1.5 </a:t>
            </a:r>
            <a:r>
              <a:rPr lang="en-US" i="1" dirty="0" err="1">
                <a:solidFill>
                  <a:srgbClr val="000000"/>
                </a:solidFill>
              </a:rPr>
              <a:t>M</a:t>
            </a:r>
            <a:r>
              <a:rPr lang="en-US" baseline="-25000" dirty="0" err="1">
                <a:solidFill>
                  <a:srgbClr val="000000"/>
                </a:solidFill>
              </a:rPr>
              <a:t>sun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i="1" dirty="0" err="1">
                <a:solidFill>
                  <a:srgbClr val="000000"/>
                </a:solidFill>
              </a:rPr>
              <a:t>R</a:t>
            </a:r>
            <a:r>
              <a:rPr lang="en-US" i="1" baseline="-25000" dirty="0" err="1">
                <a:solidFill>
                  <a:srgbClr val="000000"/>
                </a:solidFill>
              </a:rPr>
              <a:t>c,f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  <a:latin typeface="Symbol" pitchFamily="18"/>
              </a:rPr>
              <a:t>»</a:t>
            </a:r>
            <a:r>
              <a:rPr lang="en-US" dirty="0">
                <a:solidFill>
                  <a:srgbClr val="000000"/>
                </a:solidFill>
              </a:rPr>
              <a:t> 20 km: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BE9B7-0DAB-B2ED-5B68-996D112313B5}"/>
                  </a:ext>
                </a:extLst>
              </p:cNvPr>
              <p:cNvSpPr txBox="1"/>
              <p:nvPr/>
            </p:nvSpPr>
            <p:spPr>
              <a:xfrm>
                <a:off x="622651" y="4651555"/>
                <a:ext cx="6112328" cy="491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175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B80047"/>
                    </a:solidFill>
                  </a:rPr>
                  <a:t> </a:t>
                </a:r>
                <a:r>
                  <a:rPr lang="en-US" sz="2400" dirty="0">
                    <a:latin typeface="OpenSymbol" pitchFamily="18"/>
                  </a:rPr>
                  <a:t>≫</a:t>
                </a:r>
                <a:r>
                  <a:rPr lang="en-US" sz="2400" dirty="0"/>
                  <a:t> </a:t>
                </a:r>
                <a:r>
                  <a:rPr lang="en-US" sz="2400" i="1" dirty="0" err="1">
                    <a:solidFill>
                      <a:schemeClr val="accent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 err="1">
                    <a:solidFill>
                      <a:schemeClr val="accent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env</a:t>
                </a:r>
                <a:r>
                  <a:rPr lang="en-US" sz="2400" dirty="0"/>
                  <a:t> + </a:t>
                </a:r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kin</a:t>
                </a:r>
                <a:r>
                  <a:rPr lang="en-US" sz="2400" dirty="0"/>
                  <a:t> + </a:t>
                </a:r>
                <a:r>
                  <a:rPr lang="en-US" sz="2400" i="1" dirty="0" err="1">
                    <a:solidFill>
                      <a:srgbClr val="FFC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 err="1">
                    <a:solidFill>
                      <a:srgbClr val="FFC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rad</a:t>
                </a:r>
                <a:endParaRPr lang="en-US" sz="2400" baseline="-25000" dirty="0">
                  <a:solidFill>
                    <a:srgbClr val="FFC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BE9B7-0DAB-B2ED-5B68-996D1123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51" y="4651555"/>
                <a:ext cx="6112328" cy="491738"/>
              </a:xfrm>
              <a:prstGeom prst="rect">
                <a:avLst/>
              </a:prstGeom>
              <a:blipFill>
                <a:blip r:embed="rId4"/>
                <a:stretch>
                  <a:fillRect t="-10000" b="-20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CB9585-1EED-2C6A-E025-C4D9F94DDA2F}"/>
                  </a:ext>
                </a:extLst>
              </p:cNvPr>
              <p:cNvSpPr txBox="1"/>
              <p:nvPr/>
            </p:nvSpPr>
            <p:spPr>
              <a:xfrm>
                <a:off x="546725" y="1806742"/>
                <a:ext cx="5973004" cy="447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NL" sz="200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NL" sz="20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L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NL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b>
                      </m:sSub>
                      <m:r>
                        <a:rPr lang="en-NL" sz="20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NL" sz="2000" i="1">
                          <a:latin typeface="Cambria Math" panose="02040503050406030204" pitchFamily="18" charset="0"/>
                        </a:rPr>
                        <m:t>𝐺</m:t>
                      </m:r>
                      <m:sSubSup>
                        <m:sSubSupPr>
                          <m:ctrlPr>
                            <a:rPr lang="en-NL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L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NL" sz="2000" i="1"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  <m:sup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</m:t>
                          </m:r>
                          <m:f>
                            <m:fPr>
                              <m:type m:val="lin"/>
                              <m:ctrlPr>
                                <a:rPr lang="en-N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L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NL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 − </m:t>
                          </m:r>
                          <m:f>
                            <m:fPr>
                              <m:type m:val="lin"/>
                              <m:ctrlPr>
                                <a:rPr lang="en-N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L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NL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1053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erg</m:t>
                      </m:r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CB9585-1EED-2C6A-E025-C4D9F94DD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5" y="1806742"/>
                <a:ext cx="5973004" cy="447174"/>
              </a:xfrm>
              <a:prstGeom prst="rect">
                <a:avLst/>
              </a:prstGeom>
              <a:blipFill>
                <a:blip r:embed="rId5"/>
                <a:stretch>
                  <a:fillRect t="-100000" b="-15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95DDA88-D341-FB3F-30FE-659576247861}"/>
              </a:ext>
            </a:extLst>
          </p:cNvPr>
          <p:cNvSpPr txBox="1"/>
          <p:nvPr/>
        </p:nvSpPr>
        <p:spPr>
          <a:xfrm>
            <a:off x="622651" y="5444871"/>
            <a:ext cx="10720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Where is the rest of the energy? (why are the ejecta moving with just 1% of the energy budget?)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3E803-F511-FD22-768C-EA12B93181BB}"/>
              </a:ext>
            </a:extLst>
          </p:cNvPr>
          <p:cNvSpPr txBox="1"/>
          <p:nvPr/>
        </p:nvSpPr>
        <p:spPr>
          <a:xfrm>
            <a:off x="524040" y="2613518"/>
            <a:ext cx="611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62"/>
              </a:spcBef>
              <a:spcAft>
                <a:spcPts val="1306"/>
              </a:spcAft>
            </a:pPr>
            <a:r>
              <a:rPr lang="en-US" sz="1800" dirty="0">
                <a:solidFill>
                  <a:srgbClr val="000000"/>
                </a:solidFill>
              </a:rPr>
              <a:t>energetics of a “typical” (type II) core-collapse SN: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7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BCB2-DA7B-F030-7FF8-0F43EF57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Core collapse </a:t>
            </a:r>
            <a:r>
              <a:rPr lang="en-NL" dirty="0">
                <a:sym typeface="Wingdings" pitchFamily="2" charset="2"/>
              </a:rPr>
              <a:t> Core bounce  Shock wave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7CFF9-6A4A-2F62-E70D-4EA2A4D34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" smtClean="0"/>
              <a:pPr/>
              <a:t>3</a:t>
            </a:fld>
            <a:endParaRPr lang="e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704D496-3927-78FA-E8E0-9B14D4CA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040" y="1096587"/>
            <a:ext cx="9396400" cy="5136945"/>
          </a:xfrm>
        </p:spPr>
        <p:txBody>
          <a:bodyPr/>
          <a:lstStyle/>
          <a:p>
            <a:r>
              <a:rPr lang="en-GB" dirty="0"/>
              <a:t>The central mass densities achieve 3 x 10</a:t>
            </a:r>
            <a:r>
              <a:rPr lang="en-GB" baseline="30000" dirty="0"/>
              <a:t>14</a:t>
            </a:r>
            <a:r>
              <a:rPr lang="en-GB" dirty="0"/>
              <a:t> g/cm</a:t>
            </a:r>
            <a:r>
              <a:rPr lang="en-GB" baseline="30000" dirty="0"/>
              <a:t>3</a:t>
            </a:r>
          </a:p>
          <a:p>
            <a:r>
              <a:rPr lang="en-GB" dirty="0"/>
              <a:t>(about 1.5 times the density</a:t>
            </a:r>
            <a:r>
              <a:rPr lang="en-GB" b="1" dirty="0"/>
              <a:t> of an atomic nucleus!)</a:t>
            </a:r>
          </a:p>
          <a:p>
            <a:endParaRPr lang="en-GB" b="1" dirty="0"/>
          </a:p>
          <a:p>
            <a:r>
              <a:rPr lang="en-GB" b="1" dirty="0">
                <a:sym typeface="Wingdings" pitchFamily="2" charset="2"/>
              </a:rPr>
              <a:t> Neutrinos become degenerate</a:t>
            </a:r>
            <a:r>
              <a:rPr lang="en-GB" dirty="0">
                <a:sym typeface="Wingdings" pitchFamily="2" charset="2"/>
              </a:rPr>
              <a:t> causing the matter to become stiff, matter is so dense that the strong force becomes relevant: the P increases drastically  </a:t>
            </a:r>
            <a:r>
              <a:rPr lang="en-GB" sz="18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core bounces </a:t>
            </a:r>
            <a:r>
              <a:rPr lang="en-GB" dirty="0">
                <a:sym typeface="Wingdings" pitchFamily="2" charset="2"/>
              </a:rPr>
              <a:t>back like spring</a:t>
            </a:r>
          </a:p>
          <a:p>
            <a:endParaRPr lang="en-GB" b="1" dirty="0">
              <a:sym typeface="Wingdings" pitchFamily="2" charset="2"/>
            </a:endParaRPr>
          </a:p>
          <a:p>
            <a:r>
              <a:rPr lang="en-GB" dirty="0"/>
              <a:t>The core now meets the outer, still infalling, core mantle: impact of the infalling matter is supersonic and creates a shock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10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2"/>
          <p:cNvSpPr txBox="1">
            <a:spLocks noGrp="1"/>
          </p:cNvSpPr>
          <p:nvPr>
            <p:ph type="subTitle" idx="1"/>
          </p:nvPr>
        </p:nvSpPr>
        <p:spPr>
          <a:xfrm>
            <a:off x="565800" y="2912235"/>
            <a:ext cx="11060400" cy="103353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s" sz="4400" dirty="0"/>
              <a:t>The observed Zoo of supernovae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65126F-24F1-E374-9D35-22F7694319F4}"/>
              </a:ext>
            </a:extLst>
          </p:cNvPr>
          <p:cNvSpPr txBox="1">
            <a:spLocks/>
          </p:cNvSpPr>
          <p:nvPr/>
        </p:nvSpPr>
        <p:spPr>
          <a:xfrm>
            <a:off x="678737" y="487468"/>
            <a:ext cx="10504709" cy="20124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7200" i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/>
              <a:t>Core properties determine final fate and remnant</a:t>
            </a:r>
            <a:endParaRPr lang="en-US" sz="6000" b="1" i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46FF31-D10F-9468-750F-3B621035A3B6}"/>
              </a:ext>
            </a:extLst>
          </p:cNvPr>
          <p:cNvSpPr txBox="1">
            <a:spLocks/>
          </p:cNvSpPr>
          <p:nvPr/>
        </p:nvSpPr>
        <p:spPr>
          <a:xfrm>
            <a:off x="678737" y="2499940"/>
            <a:ext cx="10834525" cy="3441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8" tIns="35718" rIns="35718" bIns="35718">
            <a:noAutofit/>
          </a:bodyPr>
          <a:lstStyle>
            <a:lvl1pPr marL="0" marR="0" indent="0" algn="l" defTabSz="778972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668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1pPr>
            <a:lvl2pPr marL="0" marR="0" indent="304815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2pPr>
            <a:lvl3pPr marL="0" marR="0" indent="609630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3pPr>
            <a:lvl4pPr marL="0" marR="0" indent="914446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4pPr>
            <a:lvl5pPr marL="0" marR="0" indent="1219261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5pPr>
            <a:lvl6pPr marL="0" marR="0" indent="1524076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6pPr>
            <a:lvl7pPr marL="0" marR="0" indent="1828891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7pPr>
            <a:lvl8pPr marL="0" marR="0" indent="2133707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8pPr>
            <a:lvl9pPr marL="0" marR="0" indent="2438522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9pPr>
          </a:lstStyle>
          <a:p>
            <a:pPr defTabSz="547695"/>
            <a:r>
              <a:rPr lang="en-US" sz="7200" b="1" kern="0" cap="none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Envelope properties determine circumstellar environment and stellar observables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781DE-6119-02D4-3883-0472A64F9F3D}"/>
              </a:ext>
            </a:extLst>
          </p:cNvPr>
          <p:cNvSpPr txBox="1"/>
          <p:nvPr/>
        </p:nvSpPr>
        <p:spPr>
          <a:xfrm>
            <a:off x="12441836" y="6310859"/>
            <a:ext cx="6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Jared</a:t>
            </a:r>
          </a:p>
        </p:txBody>
      </p:sp>
    </p:spTree>
    <p:extLst>
      <p:ext uri="{BB962C8B-B14F-4D97-AF65-F5344CB8AC3E}">
        <p14:creationId xmlns:p14="http://schemas.microsoft.com/office/powerpoint/2010/main" val="1155680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EB70-D6A4-9C62-0F01-4DC30247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236" y="2786000"/>
            <a:ext cx="7289527" cy="1286000"/>
          </a:xfrm>
        </p:spPr>
        <p:txBody>
          <a:bodyPr/>
          <a:lstStyle/>
          <a:p>
            <a:r>
              <a:rPr lang="en-NL" sz="4000" dirty="0"/>
              <a:t>Do all massive stars go out with a bang?  </a:t>
            </a:r>
          </a:p>
        </p:txBody>
      </p:sp>
    </p:spTree>
    <p:extLst>
      <p:ext uri="{BB962C8B-B14F-4D97-AF65-F5344CB8AC3E}">
        <p14:creationId xmlns:p14="http://schemas.microsoft.com/office/powerpoint/2010/main" val="508710423"/>
      </p:ext>
    </p:extLst>
  </p:cSld>
  <p:clrMapOvr>
    <a:masterClrMapping/>
  </p:clrMapOvr>
</p:sld>
</file>

<file path=ppt/theme/theme1.xml><?xml version="1.0" encoding="utf-8"?>
<a:theme xmlns:a="http://schemas.openxmlformats.org/drawingml/2006/main" name="Abstract Curve">
  <a:themeElements>
    <a:clrScheme name="Simple Light">
      <a:dk1>
        <a:srgbClr val="000000"/>
      </a:dk1>
      <a:lt1>
        <a:srgbClr val="FFFFFF"/>
      </a:lt1>
      <a:dk2>
        <a:srgbClr val="F58D79"/>
      </a:dk2>
      <a:lt2>
        <a:srgbClr val="F2B591"/>
      </a:lt2>
      <a:accent1>
        <a:srgbClr val="005959"/>
      </a:accent1>
      <a:accent2>
        <a:srgbClr val="007575"/>
      </a:accent2>
      <a:accent3>
        <a:srgbClr val="069A99"/>
      </a:accent3>
      <a:accent4>
        <a:srgbClr val="05A6A5"/>
      </a:accent4>
      <a:accent5>
        <a:srgbClr val="F5745B"/>
      </a:accent5>
      <a:accent6>
        <a:srgbClr val="FF7D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7334</TotalTime>
  <Words>591</Words>
  <Application>Microsoft Macintosh PowerPoint</Application>
  <PresentationFormat>Widescreen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Arial</vt:lpstr>
      <vt:lpstr>Bodoni</vt:lpstr>
      <vt:lpstr>Cabin</vt:lpstr>
      <vt:lpstr>Calibri</vt:lpstr>
      <vt:lpstr>Cambria Math</vt:lpstr>
      <vt:lpstr>Liberation Serif</vt:lpstr>
      <vt:lpstr>Montserrat Black</vt:lpstr>
      <vt:lpstr>Open Sans</vt:lpstr>
      <vt:lpstr>Open Sans ExtraBold</vt:lpstr>
      <vt:lpstr>OpenSymbol</vt:lpstr>
      <vt:lpstr>PT Sans</vt:lpstr>
      <vt:lpstr>Symbol</vt:lpstr>
      <vt:lpstr>Wingdings</vt:lpstr>
      <vt:lpstr>Abstract Curve</vt:lpstr>
      <vt:lpstr>Compact binaries</vt:lpstr>
      <vt:lpstr>Energetics of core collapse</vt:lpstr>
      <vt:lpstr>Core collapse  Core bounce  Shock wave</vt:lpstr>
      <vt:lpstr>PowerPoint Presentation</vt:lpstr>
      <vt:lpstr>PowerPoint Presentation</vt:lpstr>
      <vt:lpstr>Do all massive stars go out with a bang?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A.A.C. van (Lieke)</dc:creator>
  <cp:lastModifiedBy>Son, A.A.C. van (Lieke)</cp:lastModifiedBy>
  <cp:revision>57</cp:revision>
  <dcterms:created xsi:type="dcterms:W3CDTF">2025-10-08T09:16:07Z</dcterms:created>
  <dcterms:modified xsi:type="dcterms:W3CDTF">2025-12-05T13:22:38Z</dcterms:modified>
</cp:coreProperties>
</file>